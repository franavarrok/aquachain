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2A1F5"/>
          </a:solidFill>
          <a:ln/>
        </p:spPr>
      </p:sp>
      <p:pic>
        <p:nvPicPr>
          <p:cNvPr id="3" name="Image 0" descr="assets/icon-tin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9784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</a:t>
            </a:r>
            <a:pPr indent="0" marL="0">
              <a:buNone/>
            </a:pPr>
            <a:r>
              <a:rPr lang="en-US" sz="260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2606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hídrico verificable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IoT y Blockchain, en tiempo real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criptográfica verificable para la gestión del agua en Mendoza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5029200"/>
            <a:ext cx="1731461" cy="384048"/>
          </a:xfrm>
          <a:prstGeom prst="roundRect">
            <a:avLst>
              <a:gd name="adj" fmla="val 50000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029200"/>
            <a:ext cx="17314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simulado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55589" y="5029200"/>
            <a:ext cx="3324286" cy="384048"/>
          </a:xfrm>
          <a:prstGeom prst="roundRect">
            <a:avLst>
              <a:gd name="adj" fmla="val 50000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55589" y="5029200"/>
            <a:ext cx="33242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propia · SHA-256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81043" y="5029200"/>
            <a:ext cx="2899533" cy="384048"/>
          </a:xfrm>
          <a:prstGeom prst="roundRect">
            <a:avLst>
              <a:gd name="adj" fmla="val 50000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1043" y="5029200"/>
            <a:ext cx="2899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· Socket.io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81744" y="5029200"/>
            <a:ext cx="2262403" cy="384048"/>
          </a:xfrm>
          <a:prstGeom prst="roundRect">
            <a:avLst>
              <a:gd name="adj" fmla="val 50000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81744" y="5029200"/>
            <a:ext cx="2262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Hackatón universitaria · Blockchain &amp; Sustentabilidad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Mendoza gestiona un recurso crítico con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que no se pueden auditar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46704" cy="3291840"/>
          </a:xfrm>
          <a:prstGeom prst="roundRect">
            <a:avLst>
              <a:gd name="adj" fmla="val 2778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97480"/>
            <a:ext cx="640080" cy="64008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6" name="Image 0" descr="assets/icon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80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hídrica creciente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420624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agua de deshielo es cada año más variable. Decisiones mal informadas cuestan cosechas y abastecimiento.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61104" y="2331720"/>
            <a:ext cx="3346704" cy="3291840"/>
          </a:xfrm>
          <a:prstGeom prst="roundRect">
            <a:avLst>
              <a:gd name="adj" fmla="val 2778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697480"/>
            <a:ext cx="640080" cy="64008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1" name="Image 1" descr="assets/icon-sen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880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3520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Relevamientos manuales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81144" y="420624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parte del monitoreo de caudales depende de mediciones manuales, con baja frecuencia y sin registro centralizado.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82128" y="2331720"/>
            <a:ext cx="3346704" cy="3291840"/>
          </a:xfrm>
          <a:prstGeom prst="roundRect">
            <a:avLst>
              <a:gd name="adj" fmla="val 2778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02168" y="2697480"/>
            <a:ext cx="640080" cy="64008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6" name="Image 2" descr="assets/icon-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880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2168" y="3520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no auditables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02168" y="420624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conflicto de distribución, no hay forma simple e independiente de probar que un dato histórico no fue alterado.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piezas que convierten datos hídricos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evidencia verificable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697480"/>
            <a:ext cx="566928" cy="566928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6" name="Image 0" descr="assets/icon-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8529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04872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9536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simulados generan caudal y nivel cada 5 segundos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0400" y="3749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1F5"/>
                </a:solidFill>
              </a:rPr>
              <a:t>&gt;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01568" y="23774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2697480"/>
            <a:ext cx="566928" cy="566928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3" name="Image 1" descr="assets/icon-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85292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21024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21024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medición se persiste de forma consultable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61888" y="3749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1F5"/>
                </a:solidFill>
              </a:rPr>
              <a:t>&gt;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163056" y="23774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82512" y="2697480"/>
            <a:ext cx="566928" cy="566928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20" name="Image 2" descr="assets/icon-ch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85292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27848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82512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propia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382512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ancla cada medición a un bloque encadenado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723376" y="37490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1F5"/>
                </a:solidFill>
              </a:rPr>
              <a:t>&gt;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924544" y="23774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0" y="2697480"/>
            <a:ext cx="566928" cy="566928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27" name="Image 3" descr="assets/icon-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85292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689336" y="26700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144000" y="3429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vivo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144000" y="3886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empuja cada cambio al instante, sin recargar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 PostgreSQL: lo complementa con una capa de evidencia criptográfica.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sensor a una prueba irrefutable,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880360"/>
            <a:ext cx="731520" cy="73152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6" name="Image 0" descr="assets/icon-sen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3081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capta caudal y nivel cada 5 segundos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23944" y="37033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1F5"/>
                </a:solidFill>
              </a:rPr>
              <a:t>&gt;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80560" y="251460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2" name="Image 1" descr="assets/icon-ch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0815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sella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5488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se ancla a un bloque que nadie puede modificar sin que se note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35824" y="37033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A1F5"/>
                </a:solidFill>
              </a:rPr>
              <a:t>&gt;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092440" y="251460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0" y="2880360"/>
            <a:ext cx="731520" cy="731520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8" name="Image 2" descr="assets/icon-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30815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66760" y="4343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se actualiza solo, al instante, sin recargar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715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minería, sin redes públicas, sin costo de transacción: una blockchain propia, hecha a medida de este problema.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DEMO. ES EL SISTEMA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está pasando ahora mismo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86968" y="1618488"/>
            <a:ext cx="10387584" cy="4250609"/>
          </a:xfrm>
          <a:prstGeom prst="roundRect">
            <a:avLst>
              <a:gd name="adj" fmla="val 1721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screenshot-stats-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10241280" cy="41043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6024545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6.174 mediciones  ·  </a:t>
            </a:r>
            <a:pPr indent="0" marL="0">
              <a:buNone/>
            </a:pPr>
            <a:r>
              <a:rPr lang="en-US" sz="13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6.575 bloques sellados  ·  </a:t>
            </a:r>
            <a:pPr indent="0" marL="0">
              <a:buNone/>
            </a:pPr>
            <a:r>
              <a:rPr lang="en-US" sz="13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vivo, sin recargar la página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EL PROBLEMA ANTES QUE LA 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anomalía, vista al instante.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bloque, a prueba de manipulación.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85216" y="1728216"/>
            <a:ext cx="6144768" cy="2088115"/>
          </a:xfrm>
          <a:prstGeom prst="roundRect">
            <a:avLst>
              <a:gd name="adj" fmla="val 3503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screenshot-table-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6035040" cy="19783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95160" y="1783080"/>
            <a:ext cx="4526280" cy="1978387"/>
          </a:xfrm>
          <a:prstGeom prst="roundRect">
            <a:avLst>
              <a:gd name="adj" fmla="val 3698"/>
            </a:avLst>
          </a:prstGeom>
          <a:solidFill>
            <a:srgbClr val="0E2538"/>
          </a:solidFill>
          <a:ln w="12700">
            <a:solidFill>
              <a:srgbClr val="22A1F5"/>
            </a:solidFill>
            <a:prstDash val="solid"/>
          </a:ln>
        </p:spPr>
      </p:sp>
      <p:pic>
        <p:nvPicPr>
          <p:cNvPr id="7" name="Image 1" descr="assets/icon-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92938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96328" y="2286000"/>
            <a:ext cx="4123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 bajo en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SENSOR-DGI-03: 56.32 m³/s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196328" y="2880360"/>
            <a:ext cx="4123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tuvo que ir a mirar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para notarlo.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825496" y="3935203"/>
            <a:ext cx="6510528" cy="2521742"/>
          </a:xfrm>
          <a:prstGeom prst="roundRect">
            <a:avLst>
              <a:gd name="adj" fmla="val 2901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assets/screenshot-blockch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3990067"/>
            <a:ext cx="6400800" cy="24120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alguien toca un dato, lo sabemos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983480" cy="3566160"/>
          </a:xfrm>
          <a:prstGeom prst="roundRect">
            <a:avLst>
              <a:gd name="adj" fmla="val 2564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5" name="Image 0" descr="assets/icon-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514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48716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de datos común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347472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alguien edita un registro viejo, nadie se entera.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89320" y="2103120"/>
            <a:ext cx="4983480" cy="3566160"/>
          </a:xfrm>
          <a:prstGeom prst="roundRect">
            <a:avLst>
              <a:gd name="adj" fmla="val 2564"/>
            </a:avLst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9" name="Image 1" descr="assets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14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248716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55080" y="3474720"/>
            <a:ext cx="4251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Tocar un dato viejo rompe la cadena entera — y se nota al instante.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promesa: cualquiera puede pedirle al sistema que verifique la cadena entera, en cualquier momento.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Pensado para quienes gestionan el agua de Mendoza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868680"/>
          </a:xfrm>
          <a:prstGeom prst="roundRect">
            <a:avLst>
              <a:gd name="adj" fmla="val 47368"/>
            </a:avLst>
          </a:prstGeom>
          <a:solidFill>
            <a:srgbClr val="0C2033"/>
          </a:solidFill>
          <a:ln w="12700">
            <a:solidFill>
              <a:srgbClr val="22A1F5"/>
            </a:solidFill>
            <a:prstDash val="solid"/>
          </a:ln>
        </p:spPr>
      </p:sp>
      <p:pic>
        <p:nvPicPr>
          <p:cNvPr id="5" name="Image 0" descr="assets/icon-g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15798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7452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General de Irrigación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83280" y="1874520"/>
            <a:ext cx="2542032" cy="868680"/>
          </a:xfrm>
          <a:prstGeom prst="roundRect">
            <a:avLst>
              <a:gd name="adj" fmla="val 47368"/>
            </a:avLst>
          </a:prstGeom>
          <a:solidFill>
            <a:srgbClr val="0C2033"/>
          </a:solidFill>
          <a:ln w="12700">
            <a:solidFill>
              <a:srgbClr val="22A1F5"/>
            </a:solidFill>
            <a:prstDash val="solid"/>
          </a:ln>
        </p:spPr>
      </p:sp>
      <p:pic>
        <p:nvPicPr>
          <p:cNvPr id="8" name="Image 1" descr="assets/icon-go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15798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187452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 Cauce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26480" y="1874520"/>
            <a:ext cx="2542032" cy="868680"/>
          </a:xfrm>
          <a:prstGeom prst="roundRect">
            <a:avLst>
              <a:gd name="adj" fmla="val 47368"/>
            </a:avLst>
          </a:prstGeom>
          <a:solidFill>
            <a:srgbClr val="0C2033"/>
          </a:solidFill>
          <a:ln w="12700">
            <a:solidFill>
              <a:srgbClr val="22A1F5"/>
            </a:solidFill>
            <a:prstDash val="solid"/>
          </a:ln>
        </p:spPr>
      </p:sp>
      <p:pic>
        <p:nvPicPr>
          <p:cNvPr id="11" name="Image 2" descr="assets/icon-go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5798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20840" y="187452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869680" y="1874520"/>
            <a:ext cx="2542032" cy="868680"/>
          </a:xfrm>
          <a:prstGeom prst="roundRect">
            <a:avLst>
              <a:gd name="adj" fmla="val 47368"/>
            </a:avLst>
          </a:prstGeom>
          <a:solidFill>
            <a:srgbClr val="0C2033"/>
          </a:solidFill>
          <a:ln w="12700">
            <a:solidFill>
              <a:srgbClr val="22A1F5"/>
            </a:solidFill>
            <a:prstDash val="solid"/>
          </a:ln>
        </p:spPr>
      </p:sp>
      <p:pic>
        <p:nvPicPr>
          <p:cNvPr id="14" name="Image 3" descr="assets/icon-go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215798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64040" y="1874520"/>
            <a:ext cx="1764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de control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40080" y="310896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9536" y="3383280"/>
            <a:ext cx="530352" cy="530352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18" name="Image 4" descr="assets/icon-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52044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9536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859536" y="4480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verifica la integridad sin confiar a ciegas en el operador.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3383280" y="310896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602736" y="3383280"/>
            <a:ext cx="530352" cy="530352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23" name="Image 5" descr="assets/icon-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52044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02736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eficiente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3602736" y="4480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vivo habilitan decisiones de distribución más rápidas.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126480" y="310896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45936" y="3383280"/>
            <a:ext cx="530352" cy="530352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28" name="Image 6" descr="assets/icon-tra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3520440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45936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6345936" y="4480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completa: de cada medición a su bloque de evidencia.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8869680" y="3108960"/>
            <a:ext cx="2542032" cy="2743200"/>
          </a:xfrm>
          <a:prstGeom prst="roundRect">
            <a:avLst>
              <a:gd name="adj" fmla="val 3597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089136" y="3383280"/>
            <a:ext cx="530352" cy="530352"/>
          </a:xfrm>
          <a:prstGeom prst="ellipse">
            <a:avLst/>
          </a:prstGeom>
          <a:solidFill>
            <a:srgbClr val="0E2538"/>
          </a:solidFill>
          <a:ln w="19050">
            <a:solidFill>
              <a:srgbClr val="22A1F5"/>
            </a:solidFill>
            <a:prstDash val="solid"/>
          </a:ln>
        </p:spPr>
      </p:sp>
      <p:pic>
        <p:nvPicPr>
          <p:cNvPr id="33" name="Image 7" descr="assets/icon-t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3520440"/>
            <a:ext cx="256032" cy="25603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89136" y="4069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Sustentabilidad</a:t>
            </a:r>
            <a:endParaRPr lang="en-US" sz="1450" dirty="0"/>
          </a:p>
        </p:txBody>
      </p:sp>
      <p:sp>
        <p:nvSpPr>
          <p:cNvPr id="35" name="Text 25"/>
          <p:cNvSpPr/>
          <p:nvPr/>
        </p:nvSpPr>
        <p:spPr>
          <a:xfrm>
            <a:off x="9089136" y="4480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monitoreo, mejor uso de un recurso estructuralmente escaso.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AquaCHAIN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22A1F5"/>
          </a:solidFill>
          <a:ln/>
        </p:spPr>
      </p:sp>
      <p:pic>
        <p:nvPicPr>
          <p:cNvPr id="3" name="Image 0" descr="assets/icon-tin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768096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21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</a:t>
            </a:r>
            <a:pPr indent="0" marL="0">
              <a:buNone/>
            </a:pPr>
            <a:r>
              <a:rPr lang="en-US" sz="220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15544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agua de Mendoza merece datos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los que se pueda confiar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un MVP funcionando en vivo. Mañana, la base de cómo el DGI audita su propia gestión.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429000"/>
            <a:ext cx="10424160" cy="2240280"/>
          </a:xfrm>
          <a:prstGeom prst="roundRect">
            <a:avLst>
              <a:gd name="adj" fmla="val 4082"/>
            </a:avLst>
          </a:prstGeom>
          <a:solidFill>
            <a:srgbClr val="0C2033"/>
          </a:solidFill>
          <a:ln w="12700">
            <a:solidFill>
              <a:srgbClr val="1532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97280" y="4224528"/>
            <a:ext cx="201168" cy="201168"/>
          </a:xfrm>
          <a:prstGeom prst="ellipse">
            <a:avLst/>
          </a:prstGeom>
          <a:solidFill>
            <a:srgbClr val="22A1F5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41056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reales en el campo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97280" y="4700016"/>
            <a:ext cx="201168" cy="201168"/>
          </a:xfrm>
          <a:prstGeom prst="ellipse">
            <a:avLst/>
          </a:prstGeom>
          <a:solidFill>
            <a:srgbClr val="22A1F5"/>
          </a:solidFill>
          <a:ln/>
        </p:spPr>
      </p:sp>
      <p:sp>
        <p:nvSpPr>
          <p:cNvPr id="12" name="Text 9"/>
          <p:cNvSpPr/>
          <p:nvPr/>
        </p:nvSpPr>
        <p:spPr>
          <a:xfrm>
            <a:off x="1463040" y="458114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predictivas con IA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97280" y="5175504"/>
            <a:ext cx="201168" cy="201168"/>
          </a:xfrm>
          <a:prstGeom prst="ellipse">
            <a:avLst/>
          </a:prstGeom>
          <a:solidFill>
            <a:srgbClr val="22A1F5"/>
          </a:solidFill>
          <a:ln/>
        </p:spPr>
      </p:sp>
      <p:sp>
        <p:nvSpPr>
          <p:cNvPr id="14" name="Text 11"/>
          <p:cNvSpPr/>
          <p:nvPr/>
        </p:nvSpPr>
        <p:spPr>
          <a:xfrm>
            <a:off x="1463040" y="50566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canal de auditoría abierto a los organismos de control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2960" y="5943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aqua-chain.vercel.app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61120" y="5943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AquaCHAIN — Monitoreo hídrico verificable con Blockchain</dc:title>
  <dc:subject>PptxGenJS Presentation</dc:subject>
  <dc:creator>AquaCHAIN</dc:creator>
  <cp:lastModifiedBy>AquaCHAIN</cp:lastModifiedBy>
  <cp:revision>1</cp:revision>
  <dcterms:created xsi:type="dcterms:W3CDTF">2026-06-25T22:01:09Z</dcterms:created>
  <dcterms:modified xsi:type="dcterms:W3CDTF">2026-06-25T22:01:09Z</dcterms:modified>
</cp:coreProperties>
</file>